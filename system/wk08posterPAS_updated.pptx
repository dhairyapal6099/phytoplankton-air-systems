
<file path=[Content_Types].xml><?xml version="1.0" encoding="utf-8"?>
<Types xmlns="http://schemas.openxmlformats.org/package/2006/content-types">
  <Default Extension="emf" ContentType="image/x-emf"/>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Lst>
  <p:notesMasterIdLst>
    <p:notesMasterId r:id="rId3"/>
  </p:notesMasterIdLst>
  <p:handoutMasterIdLst>
    <p:handoutMasterId r:id="rId4"/>
  </p:handoutMasterIdLst>
  <p:sldIdLst>
    <p:sldId id="264" r:id="rId2"/>
  </p:sldIdLst>
  <p:sldSz cx="43891200" cy="32918400"/>
  <p:notesSz cx="6858000" cy="9144000"/>
  <p:defaultText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662" userDrawn="1">
          <p15:clr>
            <a:srgbClr val="A4A3A4"/>
          </p15:clr>
        </p15:guide>
        <p15:guide id="2" orient="horz" pos="2074" userDrawn="1">
          <p15:clr>
            <a:srgbClr val="A4A3A4"/>
          </p15:clr>
        </p15:guide>
        <p15:guide id="3" orient="horz" pos="17280" userDrawn="1">
          <p15:clr>
            <a:srgbClr val="A4A3A4"/>
          </p15:clr>
        </p15:guide>
        <p15:guide id="4" orient="horz" pos="10368" userDrawn="1">
          <p15:clr>
            <a:srgbClr val="A4A3A4"/>
          </p15:clr>
        </p15:guide>
        <p15:guide id="5" pos="25574" userDrawn="1">
          <p15:clr>
            <a:srgbClr val="A4A3A4"/>
          </p15:clr>
        </p15:guide>
        <p15:guide id="6" pos="13824" userDrawn="1">
          <p15:clr>
            <a:srgbClr val="A4A3A4"/>
          </p15:clr>
        </p15:guide>
        <p15:guide id="7" pos="20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B34"/>
    <a:srgbClr val="141313"/>
    <a:srgbClr val="008EC8"/>
    <a:srgbClr val="AFC82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0" autoAdjust="0"/>
    <p:restoredTop sz="94694"/>
  </p:normalViewPr>
  <p:slideViewPr>
    <p:cSldViewPr snapToGrid="0" snapToObjects="1" showGuides="1">
      <p:cViewPr>
        <p:scale>
          <a:sx n="20" d="100"/>
          <a:sy n="20" d="100"/>
        </p:scale>
        <p:origin x="864" y="-715"/>
      </p:cViewPr>
      <p:guideLst>
        <p:guide orient="horz" pos="18662"/>
        <p:guide orient="horz" pos="2074"/>
        <p:guide orient="horz" pos="17280"/>
        <p:guide orient="horz" pos="10368"/>
        <p:guide pos="25574"/>
        <p:guide pos="13824"/>
        <p:guide pos="2074"/>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AC81C5-AE7A-1044-93C2-6BFF0DD7BC2B}" type="datetimeFigureOut">
              <a:rPr lang="en-US" smtClean="0"/>
              <a:t>12/3/2025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6F6EB44-35E4-0D4D-B375-5AD650735949}" type="slidenum">
              <a:rPr lang="en-US" smtClean="0"/>
              <a:t>‹#›</a:t>
            </a:fld>
            <a:endParaRPr lang="en-US"/>
          </a:p>
        </p:txBody>
      </p:sp>
    </p:spTree>
    <p:extLst>
      <p:ext uri="{BB962C8B-B14F-4D97-AF65-F5344CB8AC3E}">
        <p14:creationId xmlns:p14="http://schemas.microsoft.com/office/powerpoint/2010/main" val="42174612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BB8FA7-5BDC-BF4F-AE27-E2122A3D7D4C}" type="datetimeFigureOut">
              <a:rPr lang="en-US" smtClean="0"/>
              <a:t>12/3/2025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9D953D-192A-4F4A-A51F-DC3C7E58A63A}" type="slidenum">
              <a:rPr lang="en-US" smtClean="0"/>
              <a:t>‹#›</a:t>
            </a:fld>
            <a:endParaRPr lang="en-US"/>
          </a:p>
        </p:txBody>
      </p:sp>
    </p:spTree>
    <p:extLst>
      <p:ext uri="{BB962C8B-B14F-4D97-AF65-F5344CB8AC3E}">
        <p14:creationId xmlns:p14="http://schemas.microsoft.com/office/powerpoint/2010/main" val="3146029344"/>
      </p:ext>
    </p:extLst>
  </p:cSld>
  <p:clrMap bg1="lt1" tx1="dk1" bg2="lt2" tx2="dk2" accent1="accent1" accent2="accent2" accent3="accent3" accent4="accent4" accent5="accent5" accent6="accent6" hlink="hlink" folHlink="folHlink"/>
  <p:hf hdr="0" ftr="0" dt="0"/>
  <p:notesStyle>
    <a:lvl1pPr marL="0" algn="l" defTabSz="2194560" rtl="0" eaLnBrk="1" latinLnBrk="0" hangingPunct="1">
      <a:defRPr sz="5760" kern="1200">
        <a:solidFill>
          <a:schemeClr val="tx1"/>
        </a:solidFill>
        <a:latin typeface="+mn-lt"/>
        <a:ea typeface="+mn-ea"/>
        <a:cs typeface="+mn-cs"/>
      </a:defRPr>
    </a:lvl1pPr>
    <a:lvl2pPr marL="2194560" algn="l" defTabSz="2194560" rtl="0" eaLnBrk="1" latinLnBrk="0" hangingPunct="1">
      <a:defRPr sz="5760" kern="1200">
        <a:solidFill>
          <a:schemeClr val="tx1"/>
        </a:solidFill>
        <a:latin typeface="+mn-lt"/>
        <a:ea typeface="+mn-ea"/>
        <a:cs typeface="+mn-cs"/>
      </a:defRPr>
    </a:lvl2pPr>
    <a:lvl3pPr marL="4389120" algn="l" defTabSz="2194560" rtl="0" eaLnBrk="1" latinLnBrk="0" hangingPunct="1">
      <a:defRPr sz="5760" kern="1200">
        <a:solidFill>
          <a:schemeClr val="tx1"/>
        </a:solidFill>
        <a:latin typeface="+mn-lt"/>
        <a:ea typeface="+mn-ea"/>
        <a:cs typeface="+mn-cs"/>
      </a:defRPr>
    </a:lvl3pPr>
    <a:lvl4pPr marL="6583680" algn="l" defTabSz="2194560" rtl="0" eaLnBrk="1" latinLnBrk="0" hangingPunct="1">
      <a:defRPr sz="5760" kern="1200">
        <a:solidFill>
          <a:schemeClr val="tx1"/>
        </a:solidFill>
        <a:latin typeface="+mn-lt"/>
        <a:ea typeface="+mn-ea"/>
        <a:cs typeface="+mn-cs"/>
      </a:defRPr>
    </a:lvl4pPr>
    <a:lvl5pPr marL="8778240" algn="l" defTabSz="2194560" rtl="0" eaLnBrk="1" latinLnBrk="0" hangingPunct="1">
      <a:defRPr sz="5760" kern="1200">
        <a:solidFill>
          <a:schemeClr val="tx1"/>
        </a:solidFill>
        <a:latin typeface="+mn-lt"/>
        <a:ea typeface="+mn-ea"/>
        <a:cs typeface="+mn-cs"/>
      </a:defRPr>
    </a:lvl5pPr>
    <a:lvl6pPr marL="10972800" algn="l" defTabSz="2194560" rtl="0" eaLnBrk="1" latinLnBrk="0" hangingPunct="1">
      <a:defRPr sz="5760" kern="1200">
        <a:solidFill>
          <a:schemeClr val="tx1"/>
        </a:solidFill>
        <a:latin typeface="+mn-lt"/>
        <a:ea typeface="+mn-ea"/>
        <a:cs typeface="+mn-cs"/>
      </a:defRPr>
    </a:lvl6pPr>
    <a:lvl7pPr marL="13167360" algn="l" defTabSz="2194560" rtl="0" eaLnBrk="1" latinLnBrk="0" hangingPunct="1">
      <a:defRPr sz="5760" kern="1200">
        <a:solidFill>
          <a:schemeClr val="tx1"/>
        </a:solidFill>
        <a:latin typeface="+mn-lt"/>
        <a:ea typeface="+mn-ea"/>
        <a:cs typeface="+mn-cs"/>
      </a:defRPr>
    </a:lvl7pPr>
    <a:lvl8pPr marL="15361920" algn="l" defTabSz="2194560" rtl="0" eaLnBrk="1" latinLnBrk="0" hangingPunct="1">
      <a:defRPr sz="5760" kern="1200">
        <a:solidFill>
          <a:schemeClr val="tx1"/>
        </a:solidFill>
        <a:latin typeface="+mn-lt"/>
        <a:ea typeface="+mn-ea"/>
        <a:cs typeface="+mn-cs"/>
      </a:defRPr>
    </a:lvl8pPr>
    <a:lvl9pPr marL="17556480" algn="l" defTabSz="2194560" rtl="0" eaLnBrk="1" latinLnBrk="0" hangingPunct="1">
      <a:defRPr sz="576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Start Slide</a:t>
            </a:r>
          </a:p>
        </p:txBody>
      </p:sp>
      <p:sp>
        <p:nvSpPr>
          <p:cNvPr id="4" name="Slide Number Placeholder 3"/>
          <p:cNvSpPr>
            <a:spLocks noGrp="1"/>
          </p:cNvSpPr>
          <p:nvPr>
            <p:ph type="sldNum" sz="quarter" idx="10"/>
          </p:nvPr>
        </p:nvSpPr>
        <p:spPr/>
        <p:txBody>
          <a:bodyPr/>
          <a:lstStyle/>
          <a:p>
            <a:fld id="{619D953D-192A-4F4A-A51F-DC3C7E58A63A}" type="slidenum">
              <a:rPr lang="en-US" smtClean="0"/>
              <a:t>1</a:t>
            </a:fld>
            <a:endParaRPr lang="en-US"/>
          </a:p>
        </p:txBody>
      </p:sp>
    </p:spTree>
    <p:extLst>
      <p:ext uri="{BB962C8B-B14F-4D97-AF65-F5344CB8AC3E}">
        <p14:creationId xmlns:p14="http://schemas.microsoft.com/office/powerpoint/2010/main" val="1615500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Star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8398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8EC8"/>
        </a:solidFill>
        <a:effectLst/>
      </p:bgPr>
    </p:bg>
    <p:spTree>
      <p:nvGrpSpPr>
        <p:cNvPr id="1" name=""/>
        <p:cNvGrpSpPr/>
        <p:nvPr/>
      </p:nvGrpSpPr>
      <p:grpSpPr>
        <a:xfrm>
          <a:off x="0" y="0"/>
          <a:ext cx="0" cy="0"/>
          <a:chOff x="0" y="0"/>
          <a:chExt cx="0" cy="0"/>
        </a:xfrm>
      </p:grpSpPr>
      <p:sp>
        <p:nvSpPr>
          <p:cNvPr id="4" name="Rectangle 3"/>
          <p:cNvSpPr/>
          <p:nvPr userDrawn="1"/>
        </p:nvSpPr>
        <p:spPr>
          <a:xfrm>
            <a:off x="0" y="-5"/>
            <a:ext cx="43891200" cy="32918400"/>
          </a:xfrm>
          <a:prstGeom prst="rect">
            <a:avLst/>
          </a:prstGeom>
          <a:solidFill>
            <a:srgbClr val="001B3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1472"/>
          </a:p>
        </p:txBody>
      </p:sp>
      <p:pic>
        <p:nvPicPr>
          <p:cNvPr id="6" name="Picture 5">
            <a:extLst>
              <a:ext uri="{FF2B5EF4-FFF2-40B4-BE49-F238E27FC236}">
                <a16:creationId xmlns:a16="http://schemas.microsoft.com/office/drawing/2014/main" id="{5A8F6D44-1D78-D84A-8FFD-F8B914FB69C2}"/>
              </a:ext>
            </a:extLst>
          </p:cNvPr>
          <p:cNvPicPr>
            <a:picLocks noChangeAspect="1"/>
          </p:cNvPicPr>
          <p:nvPr userDrawn="1"/>
        </p:nvPicPr>
        <p:blipFill>
          <a:blip r:embed="rId3"/>
          <a:stretch>
            <a:fillRect/>
          </a:stretch>
        </p:blipFill>
        <p:spPr>
          <a:xfrm>
            <a:off x="42062400" y="29050483"/>
            <a:ext cx="1828800" cy="3867912"/>
          </a:xfrm>
          <a:prstGeom prst="rect">
            <a:avLst/>
          </a:prstGeom>
        </p:spPr>
      </p:pic>
    </p:spTree>
    <p:extLst>
      <p:ext uri="{BB962C8B-B14F-4D97-AF65-F5344CB8AC3E}">
        <p14:creationId xmlns:p14="http://schemas.microsoft.com/office/powerpoint/2010/main" val="1629985653"/>
      </p:ext>
    </p:extLst>
  </p:cSld>
  <p:clrMap bg1="lt1" tx1="dk1" bg2="lt2" tx2="dk2" accent1="accent1" accent2="accent2" accent3="accent3" accent4="accent4" accent5="accent5" accent6="accent6" hlink="hlink" folHlink="folHlink"/>
  <p:sldLayoutIdLst>
    <p:sldLayoutId id="2147483656" r:id="rId1"/>
  </p:sldLayoutIdLst>
  <p:hf hdr="0" dt="0"/>
  <p:txStyles>
    <p:titleStyle>
      <a:lvl1pPr algn="ctr" defTabSz="2194560" rtl="0" eaLnBrk="1" latinLnBrk="0" hangingPunct="1">
        <a:spcBef>
          <a:spcPct val="0"/>
        </a:spcBef>
        <a:buNone/>
        <a:defRPr sz="2112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36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4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2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fif"/><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fif"/><Relationship Id="rId5" Type="http://schemas.openxmlformats.org/officeDocument/2006/relationships/image" Target="../media/image4.png"/><Relationship Id="rId10" Type="http://schemas.openxmlformats.org/officeDocument/2006/relationships/image" Target="../media/image9.jfif"/><Relationship Id="rId4" Type="http://schemas.openxmlformats.org/officeDocument/2006/relationships/image" Target="../media/image3.png"/><Relationship Id="rId9" Type="http://schemas.openxmlformats.org/officeDocument/2006/relationships/image" Target="../media/image8.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3000" y="1075849"/>
            <a:ext cx="37307520" cy="2092881"/>
          </a:xfrm>
          <a:prstGeom prst="rect">
            <a:avLst/>
          </a:prstGeom>
          <a:noFill/>
        </p:spPr>
        <p:txBody>
          <a:bodyPr wrap="square" lIns="0" tIns="0" rIns="0" bIns="0" rtlCol="0">
            <a:spAutoFit/>
          </a:bodyPr>
          <a:lstStyle/>
          <a:p>
            <a:r>
              <a:rPr lang="en-US" sz="8800" spc="480" dirty="0">
                <a:solidFill>
                  <a:schemeClr val="bg1"/>
                </a:solidFill>
                <a:latin typeface="ITC Franklin Gothic Std Dm Cd"/>
                <a:cs typeface="ITC Franklin Gothic Std Dm Cd"/>
              </a:rPr>
              <a:t>Phytoplankton Air Systems </a:t>
            </a:r>
          </a:p>
          <a:p>
            <a:r>
              <a:rPr lang="en-US" sz="4800" dirty="0">
                <a:solidFill>
                  <a:schemeClr val="bg1"/>
                </a:solidFill>
                <a:latin typeface="ITC Franklin Gothic Std Bk Cd"/>
                <a:cs typeface="ITC Franklin Gothic Std Bk Cd"/>
              </a:rPr>
              <a:t>Julian Imperial, </a:t>
            </a:r>
            <a:r>
              <a:rPr lang="en-US" sz="4800" dirty="0" err="1">
                <a:solidFill>
                  <a:schemeClr val="bg1"/>
                </a:solidFill>
                <a:latin typeface="ITC Franklin Gothic Std Bk Cd"/>
                <a:cs typeface="ITC Franklin Gothic Std Bk Cd"/>
              </a:rPr>
              <a:t>Dharmik</a:t>
            </a:r>
            <a:r>
              <a:rPr lang="en-US" sz="4800" dirty="0">
                <a:solidFill>
                  <a:schemeClr val="bg1"/>
                </a:solidFill>
                <a:latin typeface="ITC Franklin Gothic Std Bk Cd"/>
                <a:cs typeface="ITC Franklin Gothic Std Bk Cd"/>
              </a:rPr>
              <a:t> Shah, </a:t>
            </a:r>
            <a:r>
              <a:rPr lang="en-US" sz="4800" dirty="0" err="1">
                <a:solidFill>
                  <a:schemeClr val="bg1"/>
                </a:solidFill>
                <a:latin typeface="ITC Franklin Gothic Std Bk Cd"/>
                <a:cs typeface="ITC Franklin Gothic Std Bk Cd"/>
              </a:rPr>
              <a:t>Dhairya</a:t>
            </a:r>
            <a:r>
              <a:rPr lang="en-US" sz="4800" dirty="0">
                <a:solidFill>
                  <a:schemeClr val="bg1"/>
                </a:solidFill>
                <a:latin typeface="ITC Franklin Gothic Std Bk Cd"/>
                <a:cs typeface="ITC Franklin Gothic Std Bk Cd"/>
              </a:rPr>
              <a:t> Pal, </a:t>
            </a:r>
            <a:r>
              <a:rPr lang="en-US" sz="4800" dirty="0" err="1">
                <a:solidFill>
                  <a:schemeClr val="bg1"/>
                </a:solidFill>
                <a:latin typeface="ITC Franklin Gothic Std Bk Cd"/>
                <a:cs typeface="ITC Franklin Gothic Std Bk Cd"/>
              </a:rPr>
              <a:t>Sanskriti</a:t>
            </a:r>
            <a:r>
              <a:rPr lang="en-US" sz="4800" dirty="0">
                <a:solidFill>
                  <a:schemeClr val="bg1"/>
                </a:solidFill>
                <a:latin typeface="ITC Franklin Gothic Std Bk Cd"/>
                <a:cs typeface="ITC Franklin Gothic Std Bk Cd"/>
              </a:rPr>
              <a:t> </a:t>
            </a:r>
            <a:r>
              <a:rPr lang="en-US" sz="4800" dirty="0" err="1">
                <a:solidFill>
                  <a:schemeClr val="bg1"/>
                </a:solidFill>
                <a:latin typeface="ITC Franklin Gothic Std Bk Cd"/>
                <a:cs typeface="ITC Franklin Gothic Std Bk Cd"/>
              </a:rPr>
              <a:t>Mansotra</a:t>
            </a:r>
            <a:r>
              <a:rPr lang="en-US" sz="4800" dirty="0">
                <a:solidFill>
                  <a:schemeClr val="bg1"/>
                </a:solidFill>
                <a:latin typeface="ITC Franklin Gothic Std Bk Cd"/>
                <a:cs typeface="ITC Franklin Gothic Std Bk Cd"/>
              </a:rPr>
              <a:t> </a:t>
            </a:r>
          </a:p>
        </p:txBody>
      </p:sp>
      <p:sp>
        <p:nvSpPr>
          <p:cNvPr id="4" name="Rectangle 33">
            <a:extLst>
              <a:ext uri="{FF2B5EF4-FFF2-40B4-BE49-F238E27FC236}">
                <a16:creationId xmlns:a16="http://schemas.microsoft.com/office/drawing/2014/main" id="{74ED56EB-DD8C-7D6F-213E-6B8F1D333D63}"/>
              </a:ext>
            </a:extLst>
          </p:cNvPr>
          <p:cNvSpPr>
            <a:spLocks noChangeArrowheads="1"/>
          </p:cNvSpPr>
          <p:nvPr/>
        </p:nvSpPr>
        <p:spPr bwMode="auto">
          <a:xfrm>
            <a:off x="1143000" y="15946207"/>
            <a:ext cx="9733044" cy="15913154"/>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ENCLOSURE DESIGN</a:t>
            </a:r>
          </a:p>
          <a:p>
            <a:endParaRPr lang="en-US" sz="2800" dirty="0">
              <a:latin typeface="ITC Franklin Gothic Std Bk Cd"/>
            </a:endParaRPr>
          </a:p>
          <a:p>
            <a:r>
              <a:rPr lang="en-US" sz="2800" dirty="0">
                <a:latin typeface="Georgia" charset="0"/>
                <a:cs typeface="Georgia" charset="0"/>
              </a:rPr>
              <a:t>The Phytoplankton Air Systems enclosure was built to ensure safety, functionality, and sustainability while fitting within Humber’s project size limits (32.5 cm × 14 cm × 7 cm). The structure houses the Raspberry Pi 4, power supply, and four environmental sensors in an organized layout that maintains proper airflow and component separation. Each sensor—air quality, light, proximity, and turbidity—is mounted for optimal data collection and easy maintenance through modular </a:t>
            </a:r>
            <a:r>
              <a:rPr lang="en-US" sz="2800" dirty="0" err="1">
                <a:latin typeface="Georgia" charset="0"/>
                <a:cs typeface="Georgia" charset="0"/>
              </a:rPr>
              <a:t>Qwiic</a:t>
            </a:r>
            <a:r>
              <a:rPr lang="en-US" sz="2800" dirty="0">
                <a:latin typeface="Georgia" charset="0"/>
                <a:cs typeface="Georgia" charset="0"/>
              </a:rPr>
              <a:t> connections.</a:t>
            </a:r>
          </a:p>
          <a:p>
            <a:endParaRPr lang="en-US" sz="2800" dirty="0">
              <a:latin typeface="Georgia" charset="0"/>
              <a:cs typeface="Georgia" charset="0"/>
            </a:endParaRPr>
          </a:p>
          <a:p>
            <a:r>
              <a:rPr lang="en-US" sz="2800" dirty="0">
                <a:latin typeface="Georgia" charset="0"/>
                <a:cs typeface="Georgia" charset="0"/>
              </a:rPr>
              <a:t>The design includes ventilation openings to regulate temperature and humidity for phytoplankton growth while protecting electronics from moisture exposure. All circuits operate under 16 </a:t>
            </a:r>
            <a:r>
              <a:rPr lang="en-US" sz="2800" dirty="0" err="1">
                <a:latin typeface="Georgia" charset="0"/>
                <a:cs typeface="Georgia" charset="0"/>
              </a:rPr>
              <a:t>Vrms</a:t>
            </a:r>
            <a:r>
              <a:rPr lang="en-US" sz="2800" dirty="0">
                <a:latin typeface="Georgia" charset="0"/>
                <a:cs typeface="Georgia" charset="0"/>
              </a:rPr>
              <a:t> with total power below 20 W for safety compliance. The enclosure’s clear sections allow visual observation of the phytoplankton chamber, highlighting both its biological and electronic integration.</a:t>
            </a:r>
          </a:p>
          <a:p>
            <a:endParaRPr lang="en-US" sz="2800" dirty="0">
              <a:latin typeface="Georgia" charset="0"/>
              <a:cs typeface="Georgia" charset="0"/>
            </a:endParaRPr>
          </a:p>
          <a:p>
            <a:endParaRPr lang="en-US" sz="2800" dirty="0">
              <a:latin typeface="Georgia" charset="0"/>
              <a:cs typeface="Georgia" charset="0"/>
            </a:endParaRPr>
          </a:p>
        </p:txBody>
      </p:sp>
      <p:sp>
        <p:nvSpPr>
          <p:cNvPr id="5" name="Rectangle 49">
            <a:extLst>
              <a:ext uri="{FF2B5EF4-FFF2-40B4-BE49-F238E27FC236}">
                <a16:creationId xmlns:a16="http://schemas.microsoft.com/office/drawing/2014/main" id="{0C6E7F35-DE82-E726-7376-BF9F95DB860F}"/>
              </a:ext>
            </a:extLst>
          </p:cNvPr>
          <p:cNvSpPr>
            <a:spLocks noChangeArrowheads="1"/>
          </p:cNvSpPr>
          <p:nvPr/>
        </p:nvSpPr>
        <p:spPr bwMode="auto">
          <a:xfrm>
            <a:off x="1143000" y="4023360"/>
            <a:ext cx="9829800" cy="115062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INTRODUCTION</a:t>
            </a:r>
          </a:p>
          <a:p>
            <a:endParaRPr lang="en-US" sz="2800" dirty="0">
              <a:latin typeface="ITC Franklin Gothic Std Bk Cd"/>
            </a:endParaRPr>
          </a:p>
          <a:p>
            <a:r>
              <a:rPr lang="en-US" sz="2800" dirty="0">
                <a:latin typeface="Georgia" charset="0"/>
                <a:cs typeface="Georgia" charset="0"/>
              </a:rPr>
              <a:t>Phytoplankton Air Systems is an Internet of Things (IoT)–based air purification project that merges biological and digital innovation. </a:t>
            </a:r>
          </a:p>
          <a:p>
            <a:endParaRPr lang="en-US" sz="2800" dirty="0">
              <a:latin typeface="Georgia" charset="0"/>
              <a:cs typeface="Georgia" charset="0"/>
            </a:endParaRPr>
          </a:p>
          <a:p>
            <a:r>
              <a:rPr lang="en-US" sz="2800" dirty="0">
                <a:latin typeface="Georgia" charset="0"/>
                <a:cs typeface="Georgia" charset="0"/>
              </a:rPr>
              <a:t>It utilizes phytoplankton’s natural photosynthetic process to convert carbon dioxide (CO₂) into oxygen, creating a sustainable and self-regulating air improvement system. The prototype integrates a Raspberry Pi with multiple sensors to monitor CO₂ levels, light intensity, water turbidity, and proximity. </a:t>
            </a:r>
          </a:p>
          <a:p>
            <a:endParaRPr lang="en-US" sz="2800" dirty="0">
              <a:latin typeface="Georgia" charset="0"/>
              <a:cs typeface="Georgia" charset="0"/>
            </a:endParaRPr>
          </a:p>
          <a:p>
            <a:r>
              <a:rPr lang="en-US" sz="2800" dirty="0">
                <a:latin typeface="Georgia" charset="0"/>
                <a:cs typeface="Georgia" charset="0"/>
              </a:rPr>
              <a:t>These readings are transmitted wirelessly to an Android app for real-time visualization, automated alerts, and performance tracking through Firebase. This project demonstrates how eco-engineering and IoT can work together to promote cleaner air and environmental awareness, offering an educational and practical model for sustainable technology.</a:t>
            </a:r>
          </a:p>
        </p:txBody>
      </p:sp>
      <p:sp>
        <p:nvSpPr>
          <p:cNvPr id="6" name="Rectangle 7">
            <a:extLst>
              <a:ext uri="{FF2B5EF4-FFF2-40B4-BE49-F238E27FC236}">
                <a16:creationId xmlns:a16="http://schemas.microsoft.com/office/drawing/2014/main" id="{08D0C2F6-AF47-8BFD-1BE6-50AB56D7468E}"/>
              </a:ext>
            </a:extLst>
          </p:cNvPr>
          <p:cNvSpPr>
            <a:spLocks noChangeArrowheads="1"/>
          </p:cNvSpPr>
          <p:nvPr/>
        </p:nvSpPr>
        <p:spPr bwMode="auto">
          <a:xfrm>
            <a:off x="11638044" y="4023360"/>
            <a:ext cx="9829800" cy="2790444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CIRCUIT PCB ASSEMBLY</a:t>
            </a:r>
          </a:p>
          <a:p>
            <a:endParaRPr lang="en-US" sz="2800" dirty="0">
              <a:latin typeface="ITC Franklin Gothic Std Bk Cd"/>
            </a:endParaRPr>
          </a:p>
          <a:p>
            <a:r>
              <a:rPr lang="en-US" sz="2800" dirty="0">
                <a:latin typeface="Georgia" panose="02040502050405020303" pitchFamily="18" charset="0"/>
                <a:cs typeface="Georgia" charset="0"/>
              </a:rPr>
              <a:t>The circuit that combines all the sensors together was transferred from the breadboard to a more permanent and reliable printed circuit board (PCB). This was done to improve durability, reduce wiring errors, and make the setup easier to manage. A PCB also helps reduce electrical noise and gives the project a more organized and professional look.</a:t>
            </a:r>
          </a:p>
          <a:p>
            <a:endParaRPr lang="en-US" sz="2800" dirty="0">
              <a:latin typeface="Georgia" panose="02040502050405020303" pitchFamily="18" charset="0"/>
              <a:cs typeface="Georgia" charset="0"/>
            </a:endParaRPr>
          </a:p>
          <a:p>
            <a:r>
              <a:rPr lang="en-US" sz="2800" dirty="0">
                <a:latin typeface="Georgia" panose="02040502050405020303" pitchFamily="18" charset="0"/>
                <a:cs typeface="Georgia" charset="0"/>
              </a:rPr>
              <a:t>Each sensor module—turbidity, proximity, light, and CO₂—was connected to the Raspberry Pi using a daisy-chain layout. This allowed all sensors to share connections neatly without using too many wires. The design process was done in </a:t>
            </a:r>
            <a:r>
              <a:rPr lang="en-US" sz="2800" dirty="0" err="1">
                <a:latin typeface="Georgia" panose="02040502050405020303" pitchFamily="18" charset="0"/>
                <a:cs typeface="Georgia" charset="0"/>
              </a:rPr>
              <a:t>KiCad</a:t>
            </a:r>
            <a:r>
              <a:rPr lang="en-US" sz="2800" dirty="0">
                <a:latin typeface="Georgia" panose="02040502050405020303" pitchFamily="18" charset="0"/>
                <a:cs typeface="Georgia" charset="0"/>
              </a:rPr>
              <a:t>, where we defined the board size, routed traces, inserted vias, and placed holes for components and headers. Vias were used to connect traces between the top and bottom layers of the PCB, ensuring smooth current flow throughout the circuit. The fabricated PCB, created in the lab next to ours, included areas for an LED, transistors, and several resistors. </a:t>
            </a:r>
          </a:p>
          <a:p>
            <a:endParaRPr lang="en-US" sz="2800" dirty="0">
              <a:latin typeface="Georgia" panose="02040502050405020303" pitchFamily="18" charset="0"/>
              <a:cs typeface="Georgia" charset="0"/>
            </a:endParaRPr>
          </a:p>
          <a:p>
            <a:r>
              <a:rPr lang="en-US" sz="2800" dirty="0">
                <a:latin typeface="Georgia" panose="02040502050405020303" pitchFamily="18" charset="0"/>
                <a:cs typeface="Georgia" charset="0"/>
              </a:rPr>
              <a:t>These components were used for signal control, current regulation, and visual status indication. Our group soldered all of these parts, making sure each connection was solid and free of shorts. We also soldered the headers that connect each sensor, which required precision to keep everything aligned and functional. After soldering, we tested the boards to confirm that all sensors and the LED worked properly with the Raspberry Pi. The LED acted as a quick visual indicator that the board was powered and functioning correctly. </a:t>
            </a:r>
          </a:p>
          <a:p>
            <a:endParaRPr lang="en-US" sz="2800" dirty="0">
              <a:latin typeface="Georgia" panose="02040502050405020303" pitchFamily="18" charset="0"/>
              <a:cs typeface="Georgia" charset="0"/>
            </a:endParaRPr>
          </a:p>
          <a:p>
            <a:r>
              <a:rPr lang="en-US" sz="2800" dirty="0">
                <a:latin typeface="Georgia" panose="02040502050405020303" pitchFamily="18" charset="0"/>
                <a:cs typeface="Georgia" charset="0"/>
              </a:rPr>
              <a:t>The completed circuit proved to be much more stable than the breadboard version—it prevented loose connections, improved signal quality, and made the overall system easier to test and display. Overall, using the circuit board method turned our prototype into a more professional, durable, and efficient design. It combined multiple sensors, components, and connections into one clean layout that worked reliably for our final setup.</a:t>
            </a:r>
          </a:p>
        </p:txBody>
      </p:sp>
      <p:sp>
        <p:nvSpPr>
          <p:cNvPr id="7" name="Rectangle 51">
            <a:extLst>
              <a:ext uri="{FF2B5EF4-FFF2-40B4-BE49-F238E27FC236}">
                <a16:creationId xmlns:a16="http://schemas.microsoft.com/office/drawing/2014/main" id="{586DCEA4-8DE4-3C41-D436-4509D056095B}"/>
              </a:ext>
            </a:extLst>
          </p:cNvPr>
          <p:cNvSpPr>
            <a:spLocks noChangeArrowheads="1"/>
          </p:cNvSpPr>
          <p:nvPr/>
        </p:nvSpPr>
        <p:spPr bwMode="auto">
          <a:xfrm>
            <a:off x="22326600" y="4023360"/>
            <a:ext cx="9829800" cy="2790444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MOBILE APP RESULTS</a:t>
            </a:r>
          </a:p>
          <a:p>
            <a:endParaRPr lang="en-US" sz="2800" dirty="0">
              <a:latin typeface="ITC Franklin Gothic Std Bk Cd"/>
            </a:endParaRPr>
          </a:p>
          <a:p>
            <a:r>
              <a:rPr lang="en-US" sz="2800" dirty="0">
                <a:latin typeface="Georgia" panose="02040502050405020303" pitchFamily="18" charset="0"/>
              </a:rPr>
              <a:t>For the entire duration of semester 5, (May 2025 – August 2025) we have been working to develop an Android application that is able to connect with our development platform to allow for the display of our sensor data management. </a:t>
            </a:r>
            <a:r>
              <a:rPr lang="en-US" sz="2800" dirty="0">
                <a:latin typeface="Georgia" panose="02040502050405020303" pitchFamily="18" charset="0"/>
                <a:cs typeface="Georgia" charset="0"/>
              </a:rPr>
              <a:t>Users are able to login using existing credentials, that are securely stored in a firebase database, users can access values such as, proximity, turbidity (clarity of liquid), alongside light levels and the overall air quality calculated through these other datapoints all through the Dashboard Screen, which is the home screen that users land on after logging in. </a:t>
            </a:r>
          </a:p>
          <a:p>
            <a:endParaRPr lang="en-US" sz="2800" dirty="0">
              <a:latin typeface="Georgia" charset="0"/>
              <a:cs typeface="Georgia" charset="0"/>
            </a:endParaRPr>
          </a:p>
          <a:p>
            <a:r>
              <a:rPr lang="en-US" sz="2800" dirty="0">
                <a:latin typeface="Georgia" charset="0"/>
                <a:cs typeface="Georgia" charset="0"/>
              </a:rPr>
              <a:t>The other screens shown are the main screens alongside the Dashboard, allowing for a gamified and educational experience with the Leaderboard screen and Insights screen.</a:t>
            </a:r>
          </a:p>
        </p:txBody>
      </p:sp>
      <p:sp>
        <p:nvSpPr>
          <p:cNvPr id="8" name="Rectangle 52">
            <a:extLst>
              <a:ext uri="{FF2B5EF4-FFF2-40B4-BE49-F238E27FC236}">
                <a16:creationId xmlns:a16="http://schemas.microsoft.com/office/drawing/2014/main" id="{B31CE83F-9BD7-6C1D-A8D6-C807F5A8C8BE}"/>
              </a:ext>
            </a:extLst>
          </p:cNvPr>
          <p:cNvSpPr>
            <a:spLocks noChangeArrowheads="1"/>
          </p:cNvSpPr>
          <p:nvPr/>
        </p:nvSpPr>
        <p:spPr bwMode="auto">
          <a:xfrm>
            <a:off x="32918400" y="4023360"/>
            <a:ext cx="9829800" cy="121920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DATABASE</a:t>
            </a:r>
          </a:p>
          <a:p>
            <a:endParaRPr lang="en-US" sz="2800" dirty="0">
              <a:latin typeface="ITC Franklin Gothic Std Bk Cd"/>
            </a:endParaRPr>
          </a:p>
          <a:p>
            <a:r>
              <a:rPr lang="en-US" sz="2800" dirty="0">
                <a:latin typeface="Georgia" panose="02040502050405020303" pitchFamily="18" charset="0"/>
                <a:cs typeface="Georgia" charset="0"/>
              </a:rPr>
              <a:t>Our database is all on Firebase, and we have authentication for the user credentials and, we have the device of where the air system data is going to, we have all the datapoints that are shown in the application here under device_001. </a:t>
            </a:r>
          </a:p>
        </p:txBody>
      </p:sp>
      <p:sp>
        <p:nvSpPr>
          <p:cNvPr id="9" name="Rectangle 34">
            <a:extLst>
              <a:ext uri="{FF2B5EF4-FFF2-40B4-BE49-F238E27FC236}">
                <a16:creationId xmlns:a16="http://schemas.microsoft.com/office/drawing/2014/main" id="{165BC3CD-5A24-3DA5-89C3-D5FDD9185E58}"/>
              </a:ext>
            </a:extLst>
          </p:cNvPr>
          <p:cNvSpPr>
            <a:spLocks noChangeArrowheads="1"/>
          </p:cNvSpPr>
          <p:nvPr/>
        </p:nvSpPr>
        <p:spPr bwMode="auto">
          <a:xfrm>
            <a:off x="32918400" y="16764532"/>
            <a:ext cx="9829800" cy="5386168"/>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spcBef>
                <a:spcPct val="50000"/>
              </a:spcBef>
            </a:pPr>
            <a:r>
              <a:rPr lang="en-US" sz="4000" u="sng" dirty="0">
                <a:solidFill>
                  <a:srgbClr val="008EC8"/>
                </a:solidFill>
                <a:latin typeface="ITC Franklin Gothic Std Bk Cd"/>
                <a:cs typeface="ITC Franklin Gothic Std Bk Cd"/>
              </a:rPr>
              <a:t>TESTING</a:t>
            </a:r>
          </a:p>
          <a:p>
            <a:endParaRPr lang="en-US" sz="2800" dirty="0">
              <a:latin typeface="ITC Franklin Gothic Std Bk Cd"/>
            </a:endParaRPr>
          </a:p>
          <a:p>
            <a:r>
              <a:rPr lang="en-US" sz="2800" dirty="0">
                <a:latin typeface="Georgia" panose="02040502050405020303" pitchFamily="18" charset="0"/>
                <a:cs typeface="Georgia" charset="0"/>
              </a:rPr>
              <a:t>We had testing phases throughout Semester 5 (May 2025 - Aug 2025) all the way up until now in Semester 6 (Sept 2025 – Nov 2025 Current). </a:t>
            </a:r>
          </a:p>
          <a:p>
            <a:endParaRPr lang="en-US" sz="2800" dirty="0">
              <a:latin typeface="Georgia" panose="02040502050405020303" pitchFamily="18" charset="0"/>
              <a:cs typeface="Georgia" charset="0"/>
            </a:endParaRPr>
          </a:p>
          <a:p>
            <a:r>
              <a:rPr lang="en-US" sz="2800" dirty="0">
                <a:latin typeface="Georgia" panose="02040502050405020303" pitchFamily="18" charset="0"/>
                <a:cs typeface="Georgia" charset="0"/>
              </a:rPr>
              <a:t>So during the Semester 5 we were mainly testing for any test cases in the mobile application that we have, whilst also working on our individual sensors, ensuring that they are soldered, and the code runs without error. </a:t>
            </a:r>
          </a:p>
        </p:txBody>
      </p:sp>
      <p:sp>
        <p:nvSpPr>
          <p:cNvPr id="10" name="TextBox 9">
            <a:extLst>
              <a:ext uri="{FF2B5EF4-FFF2-40B4-BE49-F238E27FC236}">
                <a16:creationId xmlns:a16="http://schemas.microsoft.com/office/drawing/2014/main" id="{F49E9447-63F9-9A34-033F-C4F35B2703E2}"/>
              </a:ext>
            </a:extLst>
          </p:cNvPr>
          <p:cNvSpPr txBox="1"/>
          <p:nvPr/>
        </p:nvSpPr>
        <p:spPr>
          <a:xfrm>
            <a:off x="32904113" y="28764145"/>
            <a:ext cx="9815513" cy="4430879"/>
          </a:xfrm>
          <a:prstGeom prst="rect">
            <a:avLst/>
          </a:prstGeom>
          <a:noFill/>
        </p:spPr>
        <p:txBody>
          <a:bodyPr wrap="square" lIns="356616" tIns="356616" rIns="356616" bIns="356616" rtlCol="0">
            <a:noAutofit/>
          </a:bodyPr>
          <a:lstStyle/>
          <a:p>
            <a:r>
              <a:rPr lang="en-US" sz="4000" spc="480" dirty="0">
                <a:solidFill>
                  <a:schemeClr val="bg1"/>
                </a:solidFill>
                <a:latin typeface="ITC Franklin Gothic Std Bk Cd" panose="020B0506030503020204" pitchFamily="34" charset="0"/>
                <a:cs typeface="ITC Franklin Gothic Std Dm Cd"/>
              </a:rPr>
              <a:t>ACKNOWLEDGEMENTS</a:t>
            </a:r>
          </a:p>
          <a:p>
            <a:endParaRPr lang="en-US" sz="2800" dirty="0">
              <a:solidFill>
                <a:schemeClr val="bg1"/>
              </a:solidFill>
              <a:latin typeface="ITC Franklin Gothic Std Bk Cd"/>
              <a:cs typeface="ITC Franklin Gothic Std Bk Cd"/>
            </a:endParaRPr>
          </a:p>
          <a:p>
            <a:r>
              <a:rPr lang="en-US" sz="2800" dirty="0">
                <a:solidFill>
                  <a:schemeClr val="bg1"/>
                </a:solidFill>
                <a:latin typeface="ITC Franklin Gothic Std Bk Cd"/>
                <a:cs typeface="ITC Franklin Gothic Std Bk Cd"/>
              </a:rPr>
              <a:t>Professors, etc.</a:t>
            </a:r>
          </a:p>
        </p:txBody>
      </p:sp>
      <p:pic>
        <p:nvPicPr>
          <p:cNvPr id="12" name="Picture 11">
            <a:extLst>
              <a:ext uri="{FF2B5EF4-FFF2-40B4-BE49-F238E27FC236}">
                <a16:creationId xmlns:a16="http://schemas.microsoft.com/office/drawing/2014/main" id="{214BDE31-F507-ECBD-48D9-68E84112AF8B}"/>
              </a:ext>
            </a:extLst>
          </p:cNvPr>
          <p:cNvPicPr>
            <a:picLocks noChangeAspect="1"/>
          </p:cNvPicPr>
          <p:nvPr/>
        </p:nvPicPr>
        <p:blipFill>
          <a:blip r:embed="rId3"/>
          <a:stretch>
            <a:fillRect/>
          </a:stretch>
        </p:blipFill>
        <p:spPr>
          <a:xfrm>
            <a:off x="22867978" y="12313942"/>
            <a:ext cx="4097470" cy="8723646"/>
          </a:xfrm>
          <a:prstGeom prst="rect">
            <a:avLst/>
          </a:prstGeom>
        </p:spPr>
      </p:pic>
      <p:pic>
        <p:nvPicPr>
          <p:cNvPr id="19" name="Picture 18">
            <a:extLst>
              <a:ext uri="{FF2B5EF4-FFF2-40B4-BE49-F238E27FC236}">
                <a16:creationId xmlns:a16="http://schemas.microsoft.com/office/drawing/2014/main" id="{F2AA2D56-C7B8-B7FC-ED52-A8A3ED48D8A2}"/>
              </a:ext>
            </a:extLst>
          </p:cNvPr>
          <p:cNvPicPr>
            <a:picLocks noChangeAspect="1"/>
          </p:cNvPicPr>
          <p:nvPr/>
        </p:nvPicPr>
        <p:blipFill>
          <a:blip r:embed="rId4"/>
          <a:stretch>
            <a:fillRect/>
          </a:stretch>
        </p:blipFill>
        <p:spPr>
          <a:xfrm>
            <a:off x="22867977" y="22553938"/>
            <a:ext cx="3851463" cy="7860160"/>
          </a:xfrm>
          <a:prstGeom prst="rect">
            <a:avLst/>
          </a:prstGeom>
        </p:spPr>
      </p:pic>
      <p:pic>
        <p:nvPicPr>
          <p:cNvPr id="21" name="Picture 20">
            <a:extLst>
              <a:ext uri="{FF2B5EF4-FFF2-40B4-BE49-F238E27FC236}">
                <a16:creationId xmlns:a16="http://schemas.microsoft.com/office/drawing/2014/main" id="{1D5972CE-9EDA-7C83-B9BD-DAE2F5EA9C36}"/>
              </a:ext>
            </a:extLst>
          </p:cNvPr>
          <p:cNvPicPr>
            <a:picLocks noChangeAspect="1"/>
          </p:cNvPicPr>
          <p:nvPr/>
        </p:nvPicPr>
        <p:blipFill>
          <a:blip r:embed="rId5"/>
          <a:stretch>
            <a:fillRect/>
          </a:stretch>
        </p:blipFill>
        <p:spPr>
          <a:xfrm>
            <a:off x="27578196" y="22461210"/>
            <a:ext cx="3719449" cy="8006273"/>
          </a:xfrm>
          <a:prstGeom prst="rect">
            <a:avLst/>
          </a:prstGeom>
        </p:spPr>
      </p:pic>
      <p:sp>
        <p:nvSpPr>
          <p:cNvPr id="22" name="TextBox 21">
            <a:extLst>
              <a:ext uri="{FF2B5EF4-FFF2-40B4-BE49-F238E27FC236}">
                <a16:creationId xmlns:a16="http://schemas.microsoft.com/office/drawing/2014/main" id="{7E3BC822-D9D1-2A7A-5488-FCD2F44555B2}"/>
              </a:ext>
            </a:extLst>
          </p:cNvPr>
          <p:cNvSpPr txBox="1"/>
          <p:nvPr/>
        </p:nvSpPr>
        <p:spPr>
          <a:xfrm>
            <a:off x="22835500" y="21132719"/>
            <a:ext cx="4097470" cy="1323439"/>
          </a:xfrm>
          <a:prstGeom prst="rect">
            <a:avLst/>
          </a:prstGeom>
          <a:noFill/>
        </p:spPr>
        <p:txBody>
          <a:bodyPr wrap="square" rtlCol="0">
            <a:spAutoFit/>
          </a:bodyPr>
          <a:lstStyle/>
          <a:p>
            <a:r>
              <a:rPr lang="en-US" sz="2000" b="1" i="1" dirty="0"/>
              <a:t>Android Studio. (2025). </a:t>
            </a:r>
          </a:p>
          <a:p>
            <a:r>
              <a:rPr lang="en-US" sz="2000" b="1" i="1" dirty="0"/>
              <a:t>Screenshot from PAS (Phytoplankton Air systems) login screen of  PAS mobile application. (Fig 1.)</a:t>
            </a:r>
          </a:p>
        </p:txBody>
      </p:sp>
      <p:sp>
        <p:nvSpPr>
          <p:cNvPr id="24" name="TextBox 23">
            <a:extLst>
              <a:ext uri="{FF2B5EF4-FFF2-40B4-BE49-F238E27FC236}">
                <a16:creationId xmlns:a16="http://schemas.microsoft.com/office/drawing/2014/main" id="{9AD4F7C2-E482-7A51-30F9-0BFD8A7A5AAD}"/>
              </a:ext>
            </a:extLst>
          </p:cNvPr>
          <p:cNvSpPr txBox="1"/>
          <p:nvPr/>
        </p:nvSpPr>
        <p:spPr>
          <a:xfrm>
            <a:off x="27495950" y="21037588"/>
            <a:ext cx="4097470" cy="1323439"/>
          </a:xfrm>
          <a:prstGeom prst="rect">
            <a:avLst/>
          </a:prstGeom>
          <a:noFill/>
        </p:spPr>
        <p:txBody>
          <a:bodyPr wrap="square" rtlCol="0">
            <a:spAutoFit/>
          </a:bodyPr>
          <a:lstStyle/>
          <a:p>
            <a:r>
              <a:rPr lang="en-US" sz="2000" b="1" i="1" dirty="0"/>
              <a:t>Android Studio. (2025). </a:t>
            </a:r>
          </a:p>
          <a:p>
            <a:r>
              <a:rPr lang="en-US" sz="2000" b="1" i="1" dirty="0"/>
              <a:t>Screenshot from PAS (Phytoplankton Air systems) Dashboard screen of PAS mobile application. (Fig 2.)</a:t>
            </a:r>
          </a:p>
        </p:txBody>
      </p:sp>
      <p:sp>
        <p:nvSpPr>
          <p:cNvPr id="25" name="TextBox 24">
            <a:extLst>
              <a:ext uri="{FF2B5EF4-FFF2-40B4-BE49-F238E27FC236}">
                <a16:creationId xmlns:a16="http://schemas.microsoft.com/office/drawing/2014/main" id="{FDE3B378-84A6-7FA1-0B56-4D890F6945A7}"/>
              </a:ext>
            </a:extLst>
          </p:cNvPr>
          <p:cNvSpPr txBox="1"/>
          <p:nvPr/>
        </p:nvSpPr>
        <p:spPr>
          <a:xfrm>
            <a:off x="22733013" y="30509229"/>
            <a:ext cx="4097470" cy="1323439"/>
          </a:xfrm>
          <a:prstGeom prst="rect">
            <a:avLst/>
          </a:prstGeom>
          <a:noFill/>
        </p:spPr>
        <p:txBody>
          <a:bodyPr wrap="square" rtlCol="0">
            <a:spAutoFit/>
          </a:bodyPr>
          <a:lstStyle/>
          <a:p>
            <a:r>
              <a:rPr lang="en-US" sz="2000" b="1" i="1" dirty="0"/>
              <a:t>Android Studio. (2025). </a:t>
            </a:r>
          </a:p>
          <a:p>
            <a:r>
              <a:rPr lang="en-US" sz="2000" b="1" i="1" dirty="0"/>
              <a:t>Screenshot from PAS (Phytoplankton Air systems) Leaderboard screen of PAS mobile application. (Fig 3.)</a:t>
            </a:r>
          </a:p>
        </p:txBody>
      </p:sp>
      <p:sp>
        <p:nvSpPr>
          <p:cNvPr id="26" name="TextBox 25">
            <a:extLst>
              <a:ext uri="{FF2B5EF4-FFF2-40B4-BE49-F238E27FC236}">
                <a16:creationId xmlns:a16="http://schemas.microsoft.com/office/drawing/2014/main" id="{ADB5D71B-AD6E-D247-7418-ABDE1881F437}"/>
              </a:ext>
            </a:extLst>
          </p:cNvPr>
          <p:cNvSpPr txBox="1"/>
          <p:nvPr/>
        </p:nvSpPr>
        <p:spPr>
          <a:xfrm>
            <a:off x="27578196" y="30535922"/>
            <a:ext cx="4097470" cy="1323439"/>
          </a:xfrm>
          <a:prstGeom prst="rect">
            <a:avLst/>
          </a:prstGeom>
          <a:noFill/>
        </p:spPr>
        <p:txBody>
          <a:bodyPr wrap="square" rtlCol="0">
            <a:spAutoFit/>
          </a:bodyPr>
          <a:lstStyle/>
          <a:p>
            <a:r>
              <a:rPr lang="en-US" sz="2000" b="1" i="1" dirty="0"/>
              <a:t>Android Studio. (2025). </a:t>
            </a:r>
          </a:p>
          <a:p>
            <a:r>
              <a:rPr lang="en-US" sz="2000" b="1" i="1" dirty="0"/>
              <a:t>Screenshot from PAS (Phytoplankton Air systems) Insights screen of PAS mobile application. (Fig 4.)</a:t>
            </a:r>
          </a:p>
        </p:txBody>
      </p:sp>
      <p:pic>
        <p:nvPicPr>
          <p:cNvPr id="35" name="Picture 34">
            <a:extLst>
              <a:ext uri="{FF2B5EF4-FFF2-40B4-BE49-F238E27FC236}">
                <a16:creationId xmlns:a16="http://schemas.microsoft.com/office/drawing/2014/main" id="{F1DA29BA-9AD2-2D31-D8FD-AB29D627F213}"/>
              </a:ext>
            </a:extLst>
          </p:cNvPr>
          <p:cNvPicPr>
            <a:picLocks noChangeAspect="1"/>
          </p:cNvPicPr>
          <p:nvPr/>
        </p:nvPicPr>
        <p:blipFill>
          <a:blip r:embed="rId6"/>
          <a:stretch>
            <a:fillRect/>
          </a:stretch>
        </p:blipFill>
        <p:spPr>
          <a:xfrm>
            <a:off x="33015156" y="7641870"/>
            <a:ext cx="8441047" cy="3376418"/>
          </a:xfrm>
          <a:prstGeom prst="rect">
            <a:avLst/>
          </a:prstGeom>
        </p:spPr>
      </p:pic>
      <p:pic>
        <p:nvPicPr>
          <p:cNvPr id="11" name="Picture 10">
            <a:extLst>
              <a:ext uri="{FF2B5EF4-FFF2-40B4-BE49-F238E27FC236}">
                <a16:creationId xmlns:a16="http://schemas.microsoft.com/office/drawing/2014/main" id="{A88A13C5-9FDE-08DA-FC54-4741F4833A69}"/>
              </a:ext>
            </a:extLst>
          </p:cNvPr>
          <p:cNvPicPr>
            <a:picLocks noChangeAspect="1"/>
          </p:cNvPicPr>
          <p:nvPr/>
        </p:nvPicPr>
        <p:blipFill>
          <a:blip r:embed="rId7"/>
          <a:stretch>
            <a:fillRect/>
          </a:stretch>
        </p:blipFill>
        <p:spPr>
          <a:xfrm>
            <a:off x="12132087" y="23338226"/>
            <a:ext cx="8718240" cy="5856674"/>
          </a:xfrm>
          <a:prstGeom prst="rect">
            <a:avLst/>
          </a:prstGeom>
        </p:spPr>
      </p:pic>
      <p:sp>
        <p:nvSpPr>
          <p:cNvPr id="13" name="TextBox 12">
            <a:extLst>
              <a:ext uri="{FF2B5EF4-FFF2-40B4-BE49-F238E27FC236}">
                <a16:creationId xmlns:a16="http://schemas.microsoft.com/office/drawing/2014/main" id="{81A06602-2646-6BA4-34BA-ED9D77AD95F7}"/>
              </a:ext>
            </a:extLst>
          </p:cNvPr>
          <p:cNvSpPr txBox="1"/>
          <p:nvPr/>
        </p:nvSpPr>
        <p:spPr>
          <a:xfrm>
            <a:off x="13233749" y="29362235"/>
            <a:ext cx="6638390" cy="830997"/>
          </a:xfrm>
          <a:prstGeom prst="rect">
            <a:avLst/>
          </a:prstGeom>
          <a:noFill/>
        </p:spPr>
        <p:txBody>
          <a:bodyPr wrap="square" rtlCol="0">
            <a:spAutoFit/>
          </a:bodyPr>
          <a:lstStyle/>
          <a:p>
            <a:r>
              <a:rPr lang="en-US" sz="2400" b="1" i="1" dirty="0" err="1"/>
              <a:t>KiCad</a:t>
            </a:r>
            <a:r>
              <a:rPr lang="en-US" sz="2400" b="1" i="1" dirty="0"/>
              <a:t> Schematic design of PCB example from one of the team members, as an example. (Fig 1.)</a:t>
            </a:r>
          </a:p>
        </p:txBody>
      </p:sp>
      <p:pic>
        <p:nvPicPr>
          <p:cNvPr id="15" name="Picture 14" descr="A machine with wires and pliers&#10;&#10;AI-generated content may be incorrect.">
            <a:extLst>
              <a:ext uri="{FF2B5EF4-FFF2-40B4-BE49-F238E27FC236}">
                <a16:creationId xmlns:a16="http://schemas.microsoft.com/office/drawing/2014/main" id="{076429A8-4F2B-DB61-F3FC-BC5C1EF7587C}"/>
              </a:ext>
            </a:extLst>
          </p:cNvPr>
          <p:cNvPicPr>
            <a:picLocks noChangeAspect="1"/>
          </p:cNvPicPr>
          <p:nvPr/>
        </p:nvPicPr>
        <p:blipFill>
          <a:blip r:embed="rId8"/>
          <a:stretch>
            <a:fillRect/>
          </a:stretch>
        </p:blipFill>
        <p:spPr>
          <a:xfrm>
            <a:off x="1395556" y="25626505"/>
            <a:ext cx="3999112" cy="5332150"/>
          </a:xfrm>
          <a:prstGeom prst="rect">
            <a:avLst/>
          </a:prstGeom>
        </p:spPr>
      </p:pic>
      <p:pic>
        <p:nvPicPr>
          <p:cNvPr id="18" name="Picture 17" descr="A close-up of a piece of metal&#10;&#10;AI-generated content may be incorrect.">
            <a:extLst>
              <a:ext uri="{FF2B5EF4-FFF2-40B4-BE49-F238E27FC236}">
                <a16:creationId xmlns:a16="http://schemas.microsoft.com/office/drawing/2014/main" id="{43910F23-8AC7-DEA3-9B3A-CA76F9E349E4}"/>
              </a:ext>
            </a:extLst>
          </p:cNvPr>
          <p:cNvPicPr>
            <a:picLocks noChangeAspect="1"/>
          </p:cNvPicPr>
          <p:nvPr/>
        </p:nvPicPr>
        <p:blipFill>
          <a:blip r:embed="rId9"/>
          <a:stretch>
            <a:fillRect/>
          </a:stretch>
        </p:blipFill>
        <p:spPr>
          <a:xfrm>
            <a:off x="5888711" y="25162430"/>
            <a:ext cx="4467161" cy="5956215"/>
          </a:xfrm>
          <a:prstGeom prst="rect">
            <a:avLst/>
          </a:prstGeom>
        </p:spPr>
      </p:pic>
      <p:sp>
        <p:nvSpPr>
          <p:cNvPr id="23" name="TextBox 22">
            <a:extLst>
              <a:ext uri="{FF2B5EF4-FFF2-40B4-BE49-F238E27FC236}">
                <a16:creationId xmlns:a16="http://schemas.microsoft.com/office/drawing/2014/main" id="{569D3EFD-76F6-A797-3515-4A1C9CFCC773}"/>
              </a:ext>
            </a:extLst>
          </p:cNvPr>
          <p:cNvSpPr txBox="1"/>
          <p:nvPr/>
        </p:nvSpPr>
        <p:spPr>
          <a:xfrm>
            <a:off x="1158826" y="30958655"/>
            <a:ext cx="4235842" cy="830997"/>
          </a:xfrm>
          <a:prstGeom prst="rect">
            <a:avLst/>
          </a:prstGeom>
          <a:noFill/>
        </p:spPr>
        <p:txBody>
          <a:bodyPr wrap="square" rtlCol="0">
            <a:spAutoFit/>
          </a:bodyPr>
          <a:lstStyle/>
          <a:p>
            <a:r>
              <a:rPr lang="en-US" sz="2400" b="1" i="1" dirty="0"/>
              <a:t>Enclosure with Raspberrypi and all sensors put together. (Fig 1.)</a:t>
            </a:r>
          </a:p>
        </p:txBody>
      </p:sp>
      <p:sp>
        <p:nvSpPr>
          <p:cNvPr id="27" name="TextBox 26">
            <a:extLst>
              <a:ext uri="{FF2B5EF4-FFF2-40B4-BE49-F238E27FC236}">
                <a16:creationId xmlns:a16="http://schemas.microsoft.com/office/drawing/2014/main" id="{7E5E2BE9-A894-0BD5-EA5B-75F0BA142368}"/>
              </a:ext>
            </a:extLst>
          </p:cNvPr>
          <p:cNvSpPr txBox="1"/>
          <p:nvPr/>
        </p:nvSpPr>
        <p:spPr>
          <a:xfrm>
            <a:off x="5848164" y="31080480"/>
            <a:ext cx="6638390" cy="461665"/>
          </a:xfrm>
          <a:prstGeom prst="rect">
            <a:avLst/>
          </a:prstGeom>
          <a:noFill/>
        </p:spPr>
        <p:txBody>
          <a:bodyPr wrap="square" rtlCol="0">
            <a:spAutoFit/>
          </a:bodyPr>
          <a:lstStyle/>
          <a:p>
            <a:r>
              <a:rPr lang="en-US" sz="2400" b="1" i="1" dirty="0"/>
              <a:t>Enclosure before assembly (Fig 2.)</a:t>
            </a:r>
          </a:p>
        </p:txBody>
      </p:sp>
      <p:pic>
        <p:nvPicPr>
          <p:cNvPr id="30" name="Picture 29" descr="A screenshot of a phone&#10;&#10;AI-generated content may be incorrect.">
            <a:extLst>
              <a:ext uri="{FF2B5EF4-FFF2-40B4-BE49-F238E27FC236}">
                <a16:creationId xmlns:a16="http://schemas.microsoft.com/office/drawing/2014/main" id="{7B46B116-D71F-555F-21A1-362F058830AE}"/>
              </a:ext>
            </a:extLst>
          </p:cNvPr>
          <p:cNvPicPr>
            <a:picLocks noChangeAspect="1"/>
          </p:cNvPicPr>
          <p:nvPr/>
        </p:nvPicPr>
        <p:blipFill>
          <a:blip r:embed="rId10"/>
          <a:stretch>
            <a:fillRect/>
          </a:stretch>
        </p:blipFill>
        <p:spPr>
          <a:xfrm>
            <a:off x="27455812" y="12313942"/>
            <a:ext cx="3923085" cy="8723646"/>
          </a:xfrm>
          <a:prstGeom prst="rect">
            <a:avLst/>
          </a:prstGeom>
        </p:spPr>
      </p:pic>
      <p:sp>
        <p:nvSpPr>
          <p:cNvPr id="31" name="TextBox 30">
            <a:extLst>
              <a:ext uri="{FF2B5EF4-FFF2-40B4-BE49-F238E27FC236}">
                <a16:creationId xmlns:a16="http://schemas.microsoft.com/office/drawing/2014/main" id="{9C299407-B8B2-7DE7-EFBC-04068ABD386B}"/>
              </a:ext>
            </a:extLst>
          </p:cNvPr>
          <p:cNvSpPr txBox="1"/>
          <p:nvPr/>
        </p:nvSpPr>
        <p:spPr>
          <a:xfrm>
            <a:off x="40655383" y="11418299"/>
            <a:ext cx="2092817" cy="3046988"/>
          </a:xfrm>
          <a:prstGeom prst="rect">
            <a:avLst/>
          </a:prstGeom>
          <a:noFill/>
        </p:spPr>
        <p:txBody>
          <a:bodyPr wrap="square" rtlCol="0">
            <a:spAutoFit/>
          </a:bodyPr>
          <a:lstStyle/>
          <a:p>
            <a:r>
              <a:rPr lang="en-US" sz="2400" b="1" i="1" dirty="0"/>
              <a:t>Firebase Screenshots of Cloud Fire store,  Authentication and Real-time database.  (Fig 1.)</a:t>
            </a:r>
          </a:p>
        </p:txBody>
      </p:sp>
      <p:pic>
        <p:nvPicPr>
          <p:cNvPr id="34" name="Picture 33" descr="A screenshot of a computer&#10;&#10;AI-generated content may be incorrect.">
            <a:extLst>
              <a:ext uri="{FF2B5EF4-FFF2-40B4-BE49-F238E27FC236}">
                <a16:creationId xmlns:a16="http://schemas.microsoft.com/office/drawing/2014/main" id="{5C5F5E6E-428E-E7BB-6D07-4D8FEEFA2BC6}"/>
              </a:ext>
            </a:extLst>
          </p:cNvPr>
          <p:cNvPicPr>
            <a:picLocks noChangeAspect="1"/>
          </p:cNvPicPr>
          <p:nvPr/>
        </p:nvPicPr>
        <p:blipFill>
          <a:blip r:embed="rId11"/>
          <a:stretch>
            <a:fillRect/>
          </a:stretch>
        </p:blipFill>
        <p:spPr>
          <a:xfrm>
            <a:off x="33015156" y="11344445"/>
            <a:ext cx="7640227" cy="4343400"/>
          </a:xfrm>
          <a:prstGeom prst="rect">
            <a:avLst/>
          </a:prstGeom>
        </p:spPr>
      </p:pic>
      <p:sp>
        <p:nvSpPr>
          <p:cNvPr id="2" name="Rectangle 34">
            <a:extLst>
              <a:ext uri="{FF2B5EF4-FFF2-40B4-BE49-F238E27FC236}">
                <a16:creationId xmlns:a16="http://schemas.microsoft.com/office/drawing/2014/main" id="{71CAE6EC-C4F0-FAE5-9A08-B295AA4D88A1}"/>
              </a:ext>
            </a:extLst>
          </p:cNvPr>
          <p:cNvSpPr>
            <a:spLocks noChangeArrowheads="1"/>
          </p:cNvSpPr>
          <p:nvPr/>
        </p:nvSpPr>
        <p:spPr bwMode="auto">
          <a:xfrm>
            <a:off x="32918400" y="22699873"/>
            <a:ext cx="9829800" cy="5386168"/>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360000" tIns="360000" rIns="360000" bIns="360000"/>
          <a:lstStyle/>
          <a:p>
            <a:pPr>
              <a:lnSpc>
                <a:spcPts val="5317"/>
              </a:lnSpc>
            </a:pPr>
            <a:r>
              <a:rPr lang="en-US" sz="4400" u="sng" dirty="0">
                <a:solidFill>
                  <a:srgbClr val="008EC8"/>
                </a:solidFill>
                <a:latin typeface="ITC Franklin Gothic Std Bk Cd"/>
                <a:cs typeface="ITC Franklin Gothic Std Bk Cd"/>
              </a:rPr>
              <a:t>OUR UNIQUE ANGLE</a:t>
            </a:r>
            <a:endParaRPr lang="en-US" sz="4400" b="1" dirty="0">
              <a:solidFill>
                <a:srgbClr val="104A52"/>
              </a:solidFill>
              <a:latin typeface="Hatton Bold"/>
              <a:ea typeface="Hatton Bold"/>
              <a:cs typeface="Hatton Bold"/>
              <a:sym typeface="Hatton Bold"/>
            </a:endParaRPr>
          </a:p>
          <a:p>
            <a:endParaRPr lang="en-US" sz="2800" dirty="0">
              <a:latin typeface="ITC Franklin Gothic Std Bk Cd"/>
            </a:endParaRPr>
          </a:p>
          <a:p>
            <a:r>
              <a:rPr lang="en-US" sz="2800" dirty="0">
                <a:latin typeface="Georgia" panose="02040502050405020303" pitchFamily="18" charset="0"/>
                <a:cs typeface="Georgia" charset="0"/>
              </a:rPr>
              <a:t>Our project goes beyond typical app development - we integrated a real algae system to bring biology and tech together. We built for impact, not just function, adding a climate education screen, gamified tracking, and real-world service features. Every detail, from reusable algae pods to user-focused design, was made to create a product that’s sustainable, engaging, and built to last.</a:t>
            </a:r>
          </a:p>
        </p:txBody>
      </p:sp>
    </p:spTree>
    <p:extLst>
      <p:ext uri="{BB962C8B-B14F-4D97-AF65-F5344CB8AC3E}">
        <p14:creationId xmlns:p14="http://schemas.microsoft.com/office/powerpoint/2010/main" val="2081111184"/>
      </p:ext>
    </p:extLst>
  </p:cSld>
  <p:clrMapOvr>
    <a:masterClrMapping/>
  </p:clrMapOvr>
</p:sld>
</file>

<file path=ppt/theme/theme1.xml><?xml version="1.0" encoding="utf-8"?>
<a:theme xmlns:a="http://schemas.openxmlformats.org/drawingml/2006/main" name="Humber Section Start Sl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806</TotalTime>
  <Words>1134</Words>
  <Application>Microsoft Office PowerPoint</Application>
  <PresentationFormat>Custom</PresentationFormat>
  <Paragraphs>56</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Georgia</vt:lpstr>
      <vt:lpstr>Hatton Bold</vt:lpstr>
      <vt:lpstr>ITC Franklin Gothic Std Bk Cd</vt:lpstr>
      <vt:lpstr>ITC Franklin Gothic Std Dm Cd</vt:lpstr>
      <vt:lpstr>Humber Section Start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SOS Incorporated</dc:creator>
  <cp:lastModifiedBy>DHARMIK Shah</cp:lastModifiedBy>
  <cp:revision>80</cp:revision>
  <dcterms:created xsi:type="dcterms:W3CDTF">2013-11-05T15:35:21Z</dcterms:created>
  <dcterms:modified xsi:type="dcterms:W3CDTF">2025-12-03T17:34:26Z</dcterms:modified>
</cp:coreProperties>
</file>